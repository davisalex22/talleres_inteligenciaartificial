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ZRILH++IZ/eXrzTxwTXbDnUrX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D4F90C-EB3B-47E3-BC91-1F1CAA2FA550}">
  <a:tblStyle styleId="{88D4F90C-EB3B-47E3-BC91-1F1CAA2FA55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i="0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12.jpg"/><Relationship Id="rId5" Type="http://schemas.openxmlformats.org/officeDocument/2006/relationships/image" Target="../media/image28.jp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18.jp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7.jp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jpg"/><Relationship Id="rId4" Type="http://schemas.openxmlformats.org/officeDocument/2006/relationships/image" Target="../media/image22.jp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"/>
          <p:cNvSpPr txBox="1"/>
          <p:nvPr/>
        </p:nvSpPr>
        <p:spPr>
          <a:xfrm>
            <a:off x="874776" y="1215454"/>
            <a:ext cx="633069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i="0" lang="es-MX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Taller 02: YOLO26, entrenamiento, rostros y expresiones faciales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8796528" y="5833871"/>
            <a:ext cx="3279648" cy="673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Por: David Alexander Salazar</a:t>
            </a:r>
            <a:r>
              <a:rPr b="0" i="0" lang="es-MX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ómo detectar objetos con YOLO? - 330ohms | 330ohms" id="32" name="Google Shape;3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7850" y="2308225"/>
            <a:ext cx="4565650" cy="3065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/>
          <p:nvPr>
            <p:ph type="title"/>
          </p:nvPr>
        </p:nvSpPr>
        <p:spPr>
          <a:xfrm>
            <a:off x="838200" y="3169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¿Cómo funciona YOLO?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48640" y="1417320"/>
            <a:ext cx="1257300" cy="960120"/>
          </a:xfrm>
          <a:prstGeom prst="roundRect">
            <a:avLst>
              <a:gd fmla="val 16667" name="adj"/>
            </a:avLst>
          </a:prstGeom>
          <a:solidFill>
            <a:srgbClr val="19365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entrada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860804" y="1751076"/>
            <a:ext cx="347472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A5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263140" y="1417320"/>
            <a:ext cx="1257300" cy="960120"/>
          </a:xfrm>
          <a:prstGeom prst="roundRect">
            <a:avLst>
              <a:gd fmla="val 16667" name="adj"/>
            </a:avLst>
          </a:prstGeom>
          <a:solidFill>
            <a:srgbClr val="19365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filtros aprendidos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575304" y="1751076"/>
            <a:ext cx="347472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A5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977639" y="1417320"/>
            <a:ext cx="1257300" cy="960120"/>
          </a:xfrm>
          <a:prstGeom prst="roundRect">
            <a:avLst>
              <a:gd fmla="val 16667" name="adj"/>
            </a:avLst>
          </a:prstGeom>
          <a:solidFill>
            <a:srgbClr val="19365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Cuello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combina tamaños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289803" y="1751076"/>
            <a:ext cx="347472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A5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692140" y="1417320"/>
            <a:ext cx="1257300" cy="960120"/>
          </a:xfrm>
          <a:prstGeom prst="roundRect">
            <a:avLst>
              <a:gd fmla="val 16667" name="adj"/>
            </a:avLst>
          </a:prstGeom>
          <a:solidFill>
            <a:srgbClr val="19365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Cabeza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cajas, clase y confianza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548640" y="2697480"/>
            <a:ext cx="64008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Char char="•"/>
            </a:pPr>
            <a:r>
              <a:rPr b="1" i="0" lang="es-MX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Una sola pasada</a:t>
            </a:r>
            <a:r>
              <a:rPr b="0" i="0" lang="es-MX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(You Only Look Once): la red mira la imagen una vez y entrega todas las cajas.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Char char="•"/>
            </a:pPr>
            <a:r>
              <a:rPr b="1" i="0" lang="es-MX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Confianza mínima</a:t>
            </a:r>
            <a:r>
              <a:rPr b="0" i="0" lang="es-MX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descarta las cajas dudosas.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Char char="•"/>
            </a:pPr>
            <a:r>
              <a:rPr b="1" i="0" lang="es-MX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YOLO11</a:t>
            </a:r>
            <a:r>
              <a:rPr b="0" i="0" lang="es-MX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elimina cajas repetidas con un paso extra (NMS). </a:t>
            </a:r>
            <a:r>
              <a:rPr b="1" i="0" lang="es-MX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YOLO26</a:t>
            </a:r>
            <a:r>
              <a:rPr b="0" i="0" lang="es-MX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aprendió a no repetirlas: no necesita NMS.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Char char="•"/>
            </a:pPr>
            <a:r>
              <a:rPr b="0" i="0" lang="es-MX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Con confianza 0.05: YOLO11 da 20 cajas (repetidas) y YOLO26, 10.</a:t>
            </a:r>
            <a:endParaRPr/>
          </a:p>
        </p:txBody>
      </p:sp>
      <p:pic>
        <p:nvPicPr>
          <p:cNvPr descr="YOLO11 repite cajas, YOLO26 no"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0" y="1463040"/>
            <a:ext cx="4434840" cy="3176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&#10;&#10;Descripción generada automáticamente con confianza baja" id="51" name="Google Shape;51;p3"/>
          <p:cNvPicPr preferRelativeResize="0"/>
          <p:nvPr/>
        </p:nvPicPr>
        <p:blipFill rotWithShape="1">
          <a:blip r:embed="rId3">
            <a:alphaModFix/>
          </a:blip>
          <a:srcRect b="43415" l="0" r="0" t="39825"/>
          <a:stretch/>
        </p:blipFill>
        <p:spPr>
          <a:xfrm>
            <a:off x="1781203" y="423914"/>
            <a:ext cx="8873993" cy="83680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 txBox="1"/>
          <p:nvPr>
            <p:ph idx="1" type="body"/>
          </p:nvPr>
        </p:nvSpPr>
        <p:spPr>
          <a:xfrm>
            <a:off x="904388" y="1416582"/>
            <a:ext cx="10383223" cy="735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MX" sz="1800"/>
              <a:t>Ultralytics es una plataforma y conjunto de herramientas especializadas en aprendizaje profundo (Deep Learning) para tareas de visión por computadora, como:</a:t>
            </a:r>
            <a:endParaRPr sz="1800"/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091" y="2350169"/>
            <a:ext cx="11201816" cy="2800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/>
          <p:nvPr>
            <p:ph type="title"/>
          </p:nvPr>
        </p:nvSpPr>
        <p:spPr>
          <a:xfrm>
            <a:off x="1122947" y="57367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Entrenamiento de Yolo con Ultralytics</a:t>
            </a:r>
            <a:endParaRPr b="1" sz="3600"/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947" y="1530433"/>
            <a:ext cx="9946105" cy="3797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5464221" y="474152"/>
            <a:ext cx="25407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Roboflow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oboflow - YouTube" id="65" name="Google Shape;65;p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boflow (@roboflow) / X" id="66" name="Google Shape;6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084" y="1765426"/>
            <a:ext cx="3022347" cy="302234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/>
          <p:nvPr/>
        </p:nvSpPr>
        <p:spPr>
          <a:xfrm>
            <a:off x="770021" y="1554244"/>
            <a:ext cx="6464968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Roboflow es una plataforma diseñada para facilitar el trabajo con conjuntos de datos en tareas de visión por computadora.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 objetivo principal es ayudar a los desarrolladores e investigadores a: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1164643" y="3437920"/>
            <a:ext cx="609600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Preparar y organizar datasets.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Anotar imágenes de manera eficiente.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datos aumentados.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Exportar datasets listos para entrenar modelos de aprendizaje profundo.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type="title"/>
          </p:nvPr>
        </p:nvSpPr>
        <p:spPr>
          <a:xfrm>
            <a:off x="838200" y="3169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Fine-tuning e hiperparámetros</a:t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548640" y="132588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Transferencia de aprendizaje: </a:t>
            </a:r>
            <a:r>
              <a:rPr b="0" lang="es-MX" sz="15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 parte de yolo26n.pt (ya sabe ver bordes y formas) y solo se le enseñan nuestras clases.</a:t>
            </a:r>
            <a:endParaRPr/>
          </a:p>
        </p:txBody>
      </p:sp>
      <p:graphicFrame>
        <p:nvGraphicFramePr>
          <p:cNvPr id="75" name="Google Shape;75;p6"/>
          <p:cNvGraphicFramePr/>
          <p:nvPr/>
        </p:nvGraphicFramePr>
        <p:xfrm>
          <a:off x="548640" y="22402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{88D4F90C-EB3B-47E3-BC91-1F1CAA2FA550}</a:tableStyleId>
              </a:tblPr>
              <a:tblGrid>
                <a:gridCol w="2011675"/>
                <a:gridCol w="1188725"/>
                <a:gridCol w="2834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 u="none" cap="none" strike="noStrike"/>
                        <a:t>Parámetro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 u="none" cap="none" strike="noStrike"/>
                        <a:t>En el taller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 u="none" cap="none" strike="noStrike"/>
                        <a:t>Para qué sirve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 u="none" cap="none" strike="noStrike"/>
                        <a:t>epochs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Vueltas completas al dataset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imgsz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640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Tamaño de entrada (objetos pequeños vs velocidad)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batch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Imágenes por paso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patience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Parar si deja de mejorar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optimizer / lr0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auto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Cómo y cuánto se ajustan los pesos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hsv, degrees, fliplr, mosaic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por defecto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Aumento de datos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6" name="Google Shape;76;p6"/>
          <p:cNvSpPr txBox="1"/>
          <p:nvPr/>
        </p:nvSpPr>
        <p:spPr>
          <a:xfrm>
            <a:off x="548640" y="525780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1050">
                <a:solidFill>
                  <a:srgbClr val="19365E"/>
                </a:solidFill>
                <a:latin typeface="Courier New"/>
                <a:ea typeface="Courier New"/>
                <a:cs typeface="Courier New"/>
                <a:sym typeface="Courier New"/>
              </a:rPr>
              <a:t>yolo detect train model=yolo26n.pt data=data.yaml epochs=15 imgsz=640</a:t>
            </a:r>
            <a:endParaRPr/>
          </a:p>
        </p:txBody>
      </p:sp>
      <p:pic>
        <p:nvPicPr>
          <p:cNvPr descr="Ejemplos de aumento de datos sobre una naranja" id="77" name="Google Shape;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280160"/>
            <a:ext cx="4846320" cy="3692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838200" y="3169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Métricas para evaluar un detector</a:t>
            </a:r>
            <a:endParaRPr/>
          </a:p>
        </p:txBody>
      </p:sp>
      <p:graphicFrame>
        <p:nvGraphicFramePr>
          <p:cNvPr id="83" name="Google Shape;83;p7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{88D4F90C-EB3B-47E3-BC91-1F1CAA2FA550}</a:tableStyleId>
              </a:tblPr>
              <a:tblGrid>
                <a:gridCol w="1325875"/>
                <a:gridCol w="3063250"/>
                <a:gridCol w="1600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Métrica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Pregunta que responde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Ejemplo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IoU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¿Cuánto coincide la caja con la real?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≥ 0.5 = acierto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Precisión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De lo detectado, ¿cuánto era correcto?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6 de 8 = 75 %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Recall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De lo que había, ¿cuánto encontró?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6 de 10 = 60 %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Equilibrio entre precisión y recall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≈ 67 %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AP / mAP50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Calidad por clase / de todas las clases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Curva P-R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200"/>
                        <a:t>mAP50-95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Igual, exigiendo cajas más precisas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200"/>
                        <a:t>La más estricta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4" name="Google Shape;84;p7"/>
          <p:cNvSpPr txBox="1"/>
          <p:nvPr/>
        </p:nvSpPr>
        <p:spPr>
          <a:xfrm>
            <a:off x="548640" y="4754880"/>
            <a:ext cx="6035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Ejemplo: </a:t>
            </a:r>
            <a:r>
              <a:rPr b="0" lang="es-MX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10 naranjas reales; el modelo dibuja 8 cajas, 6 correctas, y se le escapan 4.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s-MX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Accuracy: </a:t>
            </a:r>
            <a:r>
              <a:rPr b="0" lang="es-MX" sz="1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 usa en clasificación, no en detección (el "fondo vacío" no se puede contar).</a:t>
            </a:r>
            <a:endParaRPr/>
          </a:p>
        </p:txBody>
      </p:sp>
      <p:pic>
        <p:nvPicPr>
          <p:cNvPr descr="Tres ejemplos de IoU entre caja real y predicha" id="85" name="Google Shape;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1463040"/>
            <a:ext cx="5120640" cy="2029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>
            <p:ph type="title"/>
          </p:nvPr>
        </p:nvSpPr>
        <p:spPr>
          <a:xfrm>
            <a:off x="1122947" y="480227"/>
            <a:ext cx="10515600" cy="64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Implementación de un modelo de detección  </a:t>
            </a:r>
            <a:endParaRPr b="1" sz="3600"/>
          </a:p>
        </p:txBody>
      </p:sp>
      <p:sp>
        <p:nvSpPr>
          <p:cNvPr id="91" name="Google Shape;91;p8"/>
          <p:cNvSpPr txBox="1"/>
          <p:nvPr/>
        </p:nvSpPr>
        <p:spPr>
          <a:xfrm>
            <a:off x="770021" y="3722054"/>
            <a:ext cx="242235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Cámara: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Captura imágenes/vídeo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3469104" y="1686990"/>
            <a:ext cx="242235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Jetson Orin Nano: Procesa las imágenes con el modelo YOLO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 txBox="1"/>
          <p:nvPr/>
        </p:nvSpPr>
        <p:spPr>
          <a:xfrm>
            <a:off x="3404936" y="3560428"/>
            <a:ext cx="242235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YOLO26: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 neuronal pre-entrenada para detección rápida y precisa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9141140" y="4183719"/>
            <a:ext cx="24974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Salida: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Detecciones mostradas en pantalla.</a:t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2565304" y="5383746"/>
            <a:ext cx="78245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Cámara → Jetson Orin Nano (YOLO26) → Pantalla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S-2CD1043G0-I(UF) - Cámaras de red - Hikvision"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622" y="2215708"/>
            <a:ext cx="2356556" cy="1325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it de desarrollo NVIDIA Jetson Nano (945-13450-0000-100)" id="97" name="Google Shape;9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462" y="1376301"/>
            <a:ext cx="2080989" cy="1592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ltralytics YOLO11 Has Arrived! Redefine What's Possible in AI! by Abirami  Vina" id="98" name="Google Shape;9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7031" y="3405525"/>
            <a:ext cx="2356556" cy="1336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5644" y="1550951"/>
            <a:ext cx="2550417" cy="2246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 txBox="1"/>
          <p:nvPr>
            <p:ph type="title"/>
          </p:nvPr>
        </p:nvSpPr>
        <p:spPr>
          <a:xfrm>
            <a:off x="838200" y="3169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Dispositivos de despliegue de modelos</a:t>
            </a:r>
            <a:endParaRPr b="1" sz="3600"/>
          </a:p>
        </p:txBody>
      </p:sp>
      <p:graphicFrame>
        <p:nvGraphicFramePr>
          <p:cNvPr id="105" name="Google Shape;105;p9"/>
          <p:cNvGraphicFramePr/>
          <p:nvPr/>
        </p:nvGraphicFramePr>
        <p:xfrm>
          <a:off x="346243" y="12831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{88D4F90C-EB3B-47E3-BC91-1F1CAA2FA550}</a:tableStyleId>
              </a:tblPr>
              <a:tblGrid>
                <a:gridCol w="2231325"/>
                <a:gridCol w="4416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Dispositivo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Uso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/>
                        <a:t>Jetson Orin Nano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Sucesor del Jetson Nano: GPU con CUDA a bajo costo. Exportar a TensorRT.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/>
                        <a:t>NVIDIA Jetson Xavier NX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Mayor potencia, adecuado para modelos más complejos en tiempo real.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Raspberry Pi 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Bajo costo; con un acelerador (Coral USB o AI HAT) o modelos nano en CPU.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/>
                        <a:t>Google Coral Dev Board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TPU integrada para modelos exportados a TFLite (Edge TPU).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/>
                        <a:t>NVIDIA Jetson AGX Orin</a:t>
                      </a:r>
                      <a:endParaRPr b="1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Máximo rendimiento en la familia Jetson, ideal para aplicaciones avanzadas de IA.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/>
                        <a:t>CPU / GPU Intel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Exportar a OpenVINO (el Neural Compute Stick 2 fue descontinuado).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Kit de desarrollo NVIDIA Jetson Nano (945-13450-0000-100)" id="106" name="Google Shape;1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7153" y="1022953"/>
            <a:ext cx="1876926" cy="1436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VIDIA Jetson Xavier NX Developer Kit in Ecuador at USD 1795, Rating: 4.5" id="107" name="Google Shape;1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6367" y="1184341"/>
            <a:ext cx="1799637" cy="1480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spberry Pi 4 modelo B - 2GB | 330ohms" id="108" name="Google Shape;108;p9"/>
          <p:cNvPicPr preferRelativeResize="0"/>
          <p:nvPr/>
        </p:nvPicPr>
        <p:blipFill rotWithShape="1">
          <a:blip r:embed="rId5">
            <a:alphaModFix/>
          </a:blip>
          <a:srcRect b="17816" l="0" r="998" t="17816"/>
          <a:stretch/>
        </p:blipFill>
        <p:spPr>
          <a:xfrm>
            <a:off x="7211594" y="2555370"/>
            <a:ext cx="1876926" cy="1220330"/>
          </a:xfrm>
          <a:prstGeom prst="rect">
            <a:avLst/>
          </a:prstGeom>
          <a:noFill/>
          <a:ln>
            <a:noFill/>
          </a:ln>
        </p:spPr>
      </p:pic>
      <p:sp>
        <p:nvSpPr>
          <p:cNvPr descr="Dev Board | Coral" id="109" name="Google Shape;109;p9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ev Board | Coral" id="110" name="Google Shape;110;p9"/>
          <p:cNvSpPr/>
          <p:nvPr/>
        </p:nvSpPr>
        <p:spPr>
          <a:xfrm>
            <a:off x="12744115" y="5764259"/>
            <a:ext cx="104488" cy="10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DGE TPU Development Boards - Coral | Mouser" id="111" name="Google Shape;11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86614" y="2964629"/>
            <a:ext cx="1959142" cy="1423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45-13730-0055-000 | NVIDIA Jetson AGX Orin 64GB Development Kit | RS" id="112" name="Google Shape;112;p9"/>
          <p:cNvPicPr preferRelativeResize="0"/>
          <p:nvPr/>
        </p:nvPicPr>
        <p:blipFill rotWithShape="1">
          <a:blip r:embed="rId7">
            <a:alphaModFix/>
          </a:blip>
          <a:srcRect b="9913" l="27555" r="30064" t="9913"/>
          <a:stretch/>
        </p:blipFill>
        <p:spPr>
          <a:xfrm>
            <a:off x="7760807" y="4231181"/>
            <a:ext cx="1439111" cy="15330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ural compute stick Intel NCSM2485.DK - DynamoElectronics" id="113" name="Google Shape;113;p9"/>
          <p:cNvPicPr preferRelativeResize="0"/>
          <p:nvPr/>
        </p:nvPicPr>
        <p:blipFill rotWithShape="1">
          <a:blip r:embed="rId8">
            <a:alphaModFix/>
          </a:blip>
          <a:srcRect b="19286" l="0" r="0" t="25911"/>
          <a:stretch/>
        </p:blipFill>
        <p:spPr>
          <a:xfrm>
            <a:off x="9886614" y="4578305"/>
            <a:ext cx="2065644" cy="1132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838200" y="3169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De detectar rostros a reconocer expresiones</a:t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685800" y="1325880"/>
            <a:ext cx="2366010" cy="868680"/>
          </a:xfrm>
          <a:prstGeom prst="roundRect">
            <a:avLst>
              <a:gd fmla="val 16667" name="adj"/>
            </a:avLst>
          </a:prstGeom>
          <a:solidFill>
            <a:srgbClr val="19365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OpenCV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lee la imagen</a:t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3106674" y="1613916"/>
            <a:ext cx="347472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A5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3509010" y="1325880"/>
            <a:ext cx="2366010" cy="868680"/>
          </a:xfrm>
          <a:prstGeom prst="roundRect">
            <a:avLst>
              <a:gd fmla="val 16667" name="adj"/>
            </a:avLst>
          </a:prstGeom>
          <a:solidFill>
            <a:srgbClr val="19365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YOLO26-face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rostro + 5 puntos clave</a:t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5929883" y="1613916"/>
            <a:ext cx="347472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A5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6332220" y="1325880"/>
            <a:ext cx="2366010" cy="868680"/>
          </a:xfrm>
          <a:prstGeom prst="roundRect">
            <a:avLst>
              <a:gd fmla="val 16667" name="adj"/>
            </a:avLst>
          </a:prstGeom>
          <a:solidFill>
            <a:srgbClr val="19365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OpenCV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alinea a 112×112</a:t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8753094" y="1613916"/>
            <a:ext cx="347472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0A5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9155430" y="1325880"/>
            <a:ext cx="2366010" cy="868680"/>
          </a:xfrm>
          <a:prstGeom prst="roundRect">
            <a:avLst>
              <a:gd fmla="val 16667" name="adj"/>
            </a:avLst>
          </a:prstGeom>
          <a:solidFill>
            <a:srgbClr val="19365E"/>
          </a:solidFill>
          <a:ln>
            <a:noFill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expresiones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expresiones (cv2.dnn)</a:t>
            </a:r>
            <a:endParaRPr/>
          </a:p>
        </p:txBody>
      </p:sp>
      <p:pic>
        <p:nvPicPr>
          <p:cNvPr descr="Rostros detectados, alineados y su expresión" id="126" name="Google Shape;1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377440"/>
            <a:ext cx="3393198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0"/>
          <p:cNvSpPr txBox="1"/>
          <p:nvPr/>
        </p:nvSpPr>
        <p:spPr>
          <a:xfrm>
            <a:off x="4937760" y="2514600"/>
            <a:ext cx="66751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Char char="•"/>
            </a:pPr>
            <a:r>
              <a:rPr b="0" lang="es-MX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El mismo video pasa de neutral a sorpresa y a felicidad.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Char char="•"/>
            </a:pPr>
            <a:r>
              <a:rPr b="0" lang="es-MX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Alinear con los puntos clave hace que ojos y boca queden siempre en el mismo lugar.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Char char="•"/>
            </a:pPr>
            <a:r>
              <a:rPr b="0" lang="es-MX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Felicidad, sorpresa y neutral se reconocen muy bien; las demás son más difíciles.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Char char="•"/>
            </a:pPr>
            <a:r>
              <a:rPr b="1" lang="es-MX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Una expresión no es una emoción</a:t>
            </a:r>
            <a:r>
              <a:rPr b="0" lang="es-MX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el modelo solo ve la cara.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Calibri"/>
              <a:buChar char="•"/>
            </a:pPr>
            <a:r>
              <a:rPr b="0" lang="es-MX" sz="1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En el taller: prueba con tu propia cámara.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ev Board | Coral" id="132" name="Google Shape;132;p1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ev Board | Coral" id="133" name="Google Shape;133;p12"/>
          <p:cNvSpPr/>
          <p:nvPr/>
        </p:nvSpPr>
        <p:spPr>
          <a:xfrm>
            <a:off x="12744115" y="5764259"/>
            <a:ext cx="104488" cy="10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faz de usuario gráfica&#10;&#10;Descripción generada automáticamente con confianza baja" id="134" name="Google Shape;134;p12"/>
          <p:cNvPicPr preferRelativeResize="0"/>
          <p:nvPr/>
        </p:nvPicPr>
        <p:blipFill rotWithShape="1">
          <a:blip r:embed="rId3">
            <a:alphaModFix/>
          </a:blip>
          <a:srcRect b="43415" l="0" r="0" t="39825"/>
          <a:stretch/>
        </p:blipFill>
        <p:spPr>
          <a:xfrm>
            <a:off x="4893370" y="30548"/>
            <a:ext cx="8873993" cy="836802"/>
          </a:xfrm>
          <a:prstGeom prst="rect">
            <a:avLst/>
          </a:prstGeom>
          <a:noFill/>
          <a:ln>
            <a:noFill/>
          </a:ln>
        </p:spPr>
      </p:pic>
      <p:sp>
        <p:nvSpPr>
          <p:cNvPr descr="Ultralytics HUB - Apps on Google Play" id="135" name="Google Shape;135;p12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141" y="335922"/>
            <a:ext cx="3308262" cy="5881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2"/>
          <p:cNvSpPr txBox="1"/>
          <p:nvPr/>
        </p:nvSpPr>
        <p:spPr>
          <a:xfrm>
            <a:off x="4206240" y="114300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600">
                <a:solidFill>
                  <a:srgbClr val="19365E"/>
                </a:solidFill>
                <a:latin typeface="Calibri"/>
                <a:ea typeface="Calibri"/>
                <a:cs typeface="Calibri"/>
                <a:sym typeface="Calibri"/>
              </a:rPr>
              <a:t>Ultralytics Platform</a:t>
            </a:r>
            <a:r>
              <a:rPr b="0" lang="es-MX" sz="2600">
                <a:solidFill>
                  <a:srgbClr val="19365E"/>
                </a:solidFill>
                <a:latin typeface="Calibri"/>
                <a:ea typeface="Calibri"/>
                <a:cs typeface="Calibri"/>
                <a:sym typeface="Calibri"/>
              </a:rPr>
              <a:t> (antes Ultralytics HUB)</a:t>
            </a:r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4206240" y="1874519"/>
            <a:ext cx="75895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Calibri"/>
              <a:buChar char="•"/>
            </a:pPr>
            <a:r>
              <a:rPr b="0" lang="es-MX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Ultralytics HUB cerró el 31 de julio de 2026; su reemplazo es Ultralytics Platform.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Calibri"/>
              <a:buChar char="•"/>
            </a:pPr>
            <a:r>
              <a:rPr b="1" lang="es-MX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Datos: </a:t>
            </a:r>
            <a:r>
              <a:rPr b="0" lang="es-MX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anotar cajas, polígonos, puntos clave y objetos rotados en el navegador.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Calibri"/>
              <a:buChar char="•"/>
            </a:pPr>
            <a:r>
              <a:rPr b="1" lang="es-MX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Entrenamiento: </a:t>
            </a:r>
            <a:r>
              <a:rPr b="0" lang="es-MX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en la nube con pocos clics o con tu propio hardware.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Calibri"/>
              <a:buChar char="•"/>
            </a:pPr>
            <a:r>
              <a:rPr b="1" lang="es-MX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Despliegue: </a:t>
            </a:r>
            <a:r>
              <a:rPr b="0" lang="es-MX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probar en el navegador, exportar el modelo o publicarlo como API.</a:t>
            </a:r>
            <a:endParaRPr/>
          </a:p>
          <a:p>
            <a:pPr indent="-285750" lvl="0" marL="285750" marR="0" rtl="0" algn="l"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700"/>
              <a:buFont typeface="Calibri"/>
              <a:buChar char="•"/>
            </a:pPr>
            <a:r>
              <a:rPr b="1" lang="es-MX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Sitio: </a:t>
            </a:r>
            <a:r>
              <a:rPr b="0" lang="es-MX" sz="17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platform.ultralytics.com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type="title"/>
          </p:nvPr>
        </p:nvSpPr>
        <p:spPr>
          <a:xfrm>
            <a:off x="838200" y="497308"/>
            <a:ext cx="10515600" cy="533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MX" sz="3600"/>
              <a:t>Herramientas para el taller </a:t>
            </a:r>
            <a:endParaRPr b="1" sz="3600"/>
          </a:p>
        </p:txBody>
      </p:sp>
      <p:sp>
        <p:nvSpPr>
          <p:cNvPr descr="Dev Board | Coral" id="144" name="Google Shape;144;p13"/>
          <p:cNvSpPr/>
          <p:nvPr/>
        </p:nvSpPr>
        <p:spPr>
          <a:xfrm>
            <a:off x="12744115" y="5764259"/>
            <a:ext cx="104488" cy="10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oogle Colaboratory Colab - Guía Completa Español - Marketing Branding" id="145" name="Google Shape;1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267328"/>
            <a:ext cx="2560721" cy="1707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nAI goes all-in on Facebook's Pytorch machine learning framework |  VentureBeat" id="146" name="Google Shape;1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8771" y="2570747"/>
            <a:ext cx="3433011" cy="1716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sejos de Google Drive - Cepymenews" id="147" name="Google Shape;14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2658" y="4174086"/>
            <a:ext cx="29337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istoria de Python - Wikipedia, la enciclopedia libre" id="148" name="Google Shape;14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8220" y="1460388"/>
            <a:ext cx="1555403" cy="1707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UDA - Wikipedia" id="149" name="Google Shape;14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10469" y="4045274"/>
            <a:ext cx="2343331" cy="1419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3"/>
          <p:cNvSpPr txBox="1"/>
          <p:nvPr/>
        </p:nvSpPr>
        <p:spPr>
          <a:xfrm>
            <a:off x="841248" y="58064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1500">
                <a:solidFill>
                  <a:srgbClr val="19365E"/>
                </a:solidFill>
                <a:latin typeface="Calibri"/>
                <a:ea typeface="Calibri"/>
                <a:cs typeface="Calibri"/>
                <a:sym typeface="Calibri"/>
              </a:rPr>
              <a:t>PyTorch (base de Ultralytics) · GPU T4 gratuita de Colab (CUDA) · Python · Google Drive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s-MX"/>
              <a:t>Gracias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2022-04-18T16:36:16Z</dcterms:created>
  <dc:creator>Microsoft Office User</dc:creator>
</cp:coreProperties>
</file>