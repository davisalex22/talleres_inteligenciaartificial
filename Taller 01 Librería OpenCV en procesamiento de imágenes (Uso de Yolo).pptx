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Source Sans 3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o+MBCWQ6bNEyxWkjox8NSb4WN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AA201A-FE96-4BBF-A1CF-FD119142F86C}">
  <a:tblStyle styleId="{3BAA201A-FE96-4BBF-A1CF-FD119142F8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EBF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EBF5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ourceSans3-regular.fntdata"/><Relationship Id="rId21" Type="http://schemas.openxmlformats.org/officeDocument/2006/relationships/slide" Target="slides/slide16.xml"/><Relationship Id="rId24" Type="http://schemas.openxmlformats.org/officeDocument/2006/relationships/font" Target="fonts/SourceSans3-italic.fntdata"/><Relationship Id="rId23" Type="http://schemas.openxmlformats.org/officeDocument/2006/relationships/font" Target="fonts/SourceSans3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SourceSans3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i="0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opencv.org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gif"/><Relationship Id="rId4" Type="http://schemas.openxmlformats.org/officeDocument/2006/relationships/image" Target="../media/image25.gif"/><Relationship Id="rId5" Type="http://schemas.openxmlformats.org/officeDocument/2006/relationships/image" Target="../media/image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Relationship Id="rId4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jpg"/><Relationship Id="rId4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8.jpg"/><Relationship Id="rId7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/>
        </p:nvSpPr>
        <p:spPr>
          <a:xfrm>
            <a:off x="874776" y="1215454"/>
            <a:ext cx="63306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Taller 01: Procesamiento de imágenes con OpenCV y tareas de visión con YOLO26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8796528" y="5833871"/>
            <a:ext cx="3279648" cy="673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Por: David Alexander Salazar</a:t>
            </a:r>
            <a:r>
              <a:rPr b="0" i="0" lang="es-MX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o&#10;&#10;El contenido generado por IA puede ser incorrecto."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866" y="2630021"/>
            <a:ext cx="1828804" cy="2252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33" name="Google Shape;3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530" y="3257461"/>
            <a:ext cx="2332767" cy="1238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OpenCV</a:t>
            </a:r>
            <a:endParaRPr b="1" sz="3600"/>
          </a:p>
        </p:txBody>
      </p:sp>
      <p:pic>
        <p:nvPicPr>
          <p:cNvPr descr="OpenCV-Python Is Now An Official OpenCV Project - OpenCV" id="39" name="Google Shape;39;p2"/>
          <p:cNvPicPr preferRelativeResize="0"/>
          <p:nvPr/>
        </p:nvPicPr>
        <p:blipFill rotWithShape="1">
          <a:blip r:embed="rId3">
            <a:alphaModFix/>
          </a:blip>
          <a:srcRect b="19037" l="0" r="0" t="17535"/>
          <a:stretch/>
        </p:blipFill>
        <p:spPr>
          <a:xfrm>
            <a:off x="2228851" y="1027319"/>
            <a:ext cx="7967662" cy="240168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/>
        </p:nvSpPr>
        <p:spPr>
          <a:xfrm>
            <a:off x="1963597" y="4078356"/>
            <a:ext cx="871121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(</a:t>
            </a: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Computer Vision Library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es una biblioteca </a:t>
            </a: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código abierto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diseñada para procesar imágenes y videos, muy utilizada en </a:t>
            </a: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 por computadora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aprendizaje automático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046784" y="5281710"/>
            <a:ext cx="60983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https://opencv.org/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983675" y="3547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OpenCV</a:t>
            </a:r>
            <a:endParaRPr b="1" sz="3600"/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7125" y="1042654"/>
            <a:ext cx="9497750" cy="477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Instalación y configuración de OpenCV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2906384" y="1346102"/>
            <a:ext cx="66294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Opción 1 – </a:t>
            </a:r>
            <a:r>
              <a:rPr b="1" i="1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opencv-python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(Paquete principal)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Opción 2 – </a:t>
            </a:r>
            <a:r>
              <a:rPr b="1" i="1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opencv-contrib-python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(Paquete completo/contrib)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Opción 3 – </a:t>
            </a:r>
            <a:r>
              <a:rPr b="1" i="1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opencv-python-headless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(Sin GUI)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Opción 4 – </a:t>
            </a:r>
            <a:r>
              <a:rPr b="1" i="1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opencv-contrib-python-headless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(Completo + Sin GUI)</a:t>
            </a:r>
            <a:endParaRPr b="0" i="0" sz="1800" u="none" cap="none" strike="noStrike">
              <a:solidFill>
                <a:srgbClr val="46464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aphicFrame>
        <p:nvGraphicFramePr>
          <p:cNvPr id="54" name="Google Shape;54;p4"/>
          <p:cNvGraphicFramePr/>
          <p:nvPr/>
        </p:nvGraphicFramePr>
        <p:xfrm>
          <a:off x="838200" y="30868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{3BAA201A-FE96-4BBF-A1CF-FD119142F86C}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MX" sz="1800" u="none" cap="none" strike="noStrike"/>
                        <a:t>Necesidad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MX" sz="1800" u="none" cap="none" strike="noStrike"/>
                        <a:t>Mejor opción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Aprender y experimentar localmente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opencv-python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Funciones avanzadas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opencv-contrib-python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Entorno sin GUI (server/Colab)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opencv-python-headless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Entorno sin GUI + funciones avanzadas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800" u="none" cap="none" strike="noStrike"/>
                        <a:t>opencv-contrib-python-headless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5" name="Google Shape;55;p4"/>
          <p:cNvSpPr txBox="1"/>
          <p:nvPr/>
        </p:nvSpPr>
        <p:spPr>
          <a:xfrm>
            <a:off x="841248" y="5074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 el taller: </a:t>
            </a:r>
            <a:r>
              <a:rPr b="0" i="0" lang="es-MX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 instala opencv-contrib-python-headless, porque OpenCV 5 movió el detector de rostros clásico (Viola-Jones) al paquete contrib.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Procesamiento de Imágenes y videos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7626898" y="1750470"/>
            <a:ext cx="37269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Lectura y visualización de imágenes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cargar, mostrar y guardar imágenes o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Funciones principales: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cv2.imread()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cv2.imshow()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cv2.imwrite()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 para cualquier tarea de análisis visual.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CV Tutorial: A Guide to Learn OpenCV - PyImageSearch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216" y="1487133"/>
            <a:ext cx="57150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s-MX" sz="3600"/>
              <a:t>La convolución: un kernel que se desliza</a:t>
            </a:r>
            <a:endParaRPr/>
          </a:p>
        </p:txBody>
      </p:sp>
      <p:sp>
        <p:nvSpPr>
          <p:cNvPr id="68" name="Google Shape;68;p21"/>
          <p:cNvSpPr txBox="1"/>
          <p:nvPr/>
        </p:nvSpPr>
        <p:spPr>
          <a:xfrm>
            <a:off x="841248" y="14173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Un filtro es una pequeña tabla de números (el kernel) que se desliza sobre la imagen: en cada posición multiplica, suma y escribe el resultado.</a:t>
            </a:r>
            <a:endParaRPr/>
          </a:p>
        </p:txBody>
      </p:sp>
      <p:pic>
        <p:nvPicPr>
          <p:cNvPr descr="Sin relleno: la salida se achica" id="69" name="Google Shape;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2331720"/>
            <a:ext cx="2282823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1"/>
          <p:cNvSpPr txBox="1"/>
          <p:nvPr/>
        </p:nvSpPr>
        <p:spPr>
          <a:xfrm>
            <a:off x="914400" y="48463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Sin relleno: la salida se achica</a:t>
            </a:r>
            <a:endParaRPr/>
          </a:p>
        </p:txBody>
      </p:sp>
      <p:pic>
        <p:nvPicPr>
          <p:cNvPr descr="Con relleno (padding): mismo tamaño" id="71" name="Google Shape;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2331720"/>
            <a:ext cx="2131733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1"/>
          <p:cNvSpPr txBox="1"/>
          <p:nvPr/>
        </p:nvSpPr>
        <p:spPr>
          <a:xfrm>
            <a:off x="4526280" y="48463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 relleno (padding): mismo tamaño</a:t>
            </a:r>
            <a:endParaRPr/>
          </a:p>
        </p:txBody>
      </p:sp>
      <p:pic>
        <p:nvPicPr>
          <p:cNvPr descr="Saltando de 2 en 2 (stride): mitad" id="73" name="Google Shape;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0" y="2331720"/>
            <a:ext cx="2473642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1"/>
          <p:cNvSpPr txBox="1"/>
          <p:nvPr/>
        </p:nvSpPr>
        <p:spPr>
          <a:xfrm>
            <a:off x="8138160" y="48463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Saltando de 2 en 2 (stride): mitad</a:t>
            </a:r>
            <a:endParaRPr/>
          </a:p>
        </p:txBody>
      </p:sp>
      <p:sp>
        <p:nvSpPr>
          <p:cNvPr id="75" name="Google Shape;75;p21"/>
          <p:cNvSpPr txBox="1"/>
          <p:nvPr/>
        </p:nvSpPr>
        <p:spPr>
          <a:xfrm>
            <a:off x="841248" y="5349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Las redes convolucionales (como YOLO) </a:t>
            </a:r>
            <a:r>
              <a:rPr b="1" i="0" lang="es-MX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aprenden</a:t>
            </a:r>
            <a:r>
              <a:rPr b="0" i="0" lang="es-MX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sus propios kernels a partir de miles de imágenes.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Procesamiento de Imágenes y videos</a:t>
            </a:r>
            <a:endParaRPr/>
          </a:p>
        </p:txBody>
      </p:sp>
      <p:pic>
        <p:nvPicPr>
          <p:cNvPr descr="Procesamiento de imágenes en OpenCV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756" y="1287684"/>
            <a:ext cx="5095111" cy="1912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cesamiento de imágenes en OpenCV" id="82" name="Google Shape;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303" y="3429000"/>
            <a:ext cx="5323713" cy="198925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 txBox="1"/>
          <p:nvPr/>
        </p:nvSpPr>
        <p:spPr>
          <a:xfrm>
            <a:off x="450533" y="1287684"/>
            <a:ext cx="53238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Conversión de color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 imágenes o frames entre espacios de color (BGR, RGB, GRAY, HSV, LAB,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la </a:t>
            </a: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segmentación por color</a:t>
            </a: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la detección de objetos.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Función: </a:t>
            </a:r>
            <a:r>
              <a:rPr b="0" i="0" lang="es-MX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cv2.cvtColor(frame, cv2.COLOR_BGR2HSV).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6659118" y="3546466"/>
            <a:ext cx="493547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Detección de bordes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los límites de los objetos en cada imagen o frame.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Muy útil para segmentar figuras o detectar movimiento.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Función: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cv2.Canny(frame, 100, 200)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Procesamiento de Imágenes y videos</a:t>
            </a:r>
            <a:endParaRPr/>
          </a:p>
        </p:txBody>
      </p:sp>
      <p:pic>
        <p:nvPicPr>
          <p:cNvPr descr="OpenCV Operaciones Morfológicas" id="90" name="Google Shape;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856" y="1454533"/>
            <a:ext cx="4325872" cy="1912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 txBox="1"/>
          <p:nvPr/>
        </p:nvSpPr>
        <p:spPr>
          <a:xfrm>
            <a:off x="649700" y="3649141"/>
            <a:ext cx="45321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Operaciones morfológicas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Procesan estructuras dentro de una imagen o video (abrir, cerrar, dilatar).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usan para limpiar ruido o refinar máscaras binarias.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Función: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cv2.morphologyEx()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UAVIZACIÓN Y ELIMINACIÓN DE RUIDO EN IMÁGENES DIGITALES, CON «opencv». –  El Programador Chapuzas"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270" y="3007914"/>
            <a:ext cx="6158326" cy="289140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/>
          <p:nvPr/>
        </p:nvSpPr>
        <p:spPr>
          <a:xfrm>
            <a:off x="6285778" y="1439526"/>
            <a:ext cx="496134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Filtros y reducción de ruido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la calidad visual eliminando ruido o imperfecciones.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Filtros comunes: media, gaussiano y mediana.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cv2.GaussianBlur(frame, (5,5), 0)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s-MX" sz="3600"/>
              <a:t>¿Qué filtro uso y cuándo?</a:t>
            </a:r>
            <a:endParaRPr/>
          </a:p>
        </p:txBody>
      </p:sp>
      <p:graphicFrame>
        <p:nvGraphicFramePr>
          <p:cNvPr id="99" name="Google Shape;99;p22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{3BAA201A-FE96-4BBF-A1CF-FD119142F86C}</a:tableStyleId>
              </a:tblPr>
              <a:tblGrid>
                <a:gridCol w="2514600"/>
                <a:gridCol w="1463050"/>
                <a:gridCol w="13258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MX" sz="1300" u="none" cap="none" strike="noStrike"/>
                        <a:t>Si en la imagen hay…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MX" sz="1300" u="none" cap="none" strike="noStrike"/>
                        <a:t>Usa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MX" sz="1300" u="none" cap="none" strike="noStrike"/>
                        <a:t>Momento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Poco contraste, contraluz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CLAHE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Al inicio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Grano (poca luz, sensor)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Gaussiano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Antes de bordes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Puntos blancos y negros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Mediana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Primer paso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Ruido, pero importan los bordes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Bilateral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Antes de bordes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Luz desigual al separar fondo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Umbral adaptativo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Tras suavizar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Máscara con huecos o puntos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Apertura / cierre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Antes de contar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Foto borrosa para mostrar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Enfoque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MX" sz="1300" u="none" cap="none" strike="noStrike"/>
                        <a:t>Al final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descr="Comparación de filtro equivocado y correcto para dos tipos de ruido" id="100" name="Google Shape;1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417320"/>
            <a:ext cx="5394960" cy="39469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600" u="none" cap="none" strike="noStrike">
                <a:solidFill>
                  <a:srgbClr val="19365E"/>
                </a:solidFill>
                <a:latin typeface="Calibri"/>
                <a:ea typeface="Calibri"/>
                <a:cs typeface="Calibri"/>
                <a:sym typeface="Calibri"/>
              </a:rPr>
              <a:t>Regla: </a:t>
            </a:r>
            <a:r>
              <a:rPr b="0" i="0" lang="es-MX" sz="1600" u="none" cap="none" strike="noStrike">
                <a:solidFill>
                  <a:srgbClr val="19365E"/>
                </a:solidFill>
                <a:latin typeface="Calibri"/>
                <a:ea typeface="Calibri"/>
                <a:cs typeface="Calibri"/>
                <a:sym typeface="Calibri"/>
              </a:rPr>
              <a:t>mejorar contraste → limpiar ruido → analizar (bordes, umbral) → limpiar la máscara.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7493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Análisis geométrico y visión avanzada</a:t>
            </a:r>
            <a:endParaRPr b="1" sz="3600"/>
          </a:p>
        </p:txBody>
      </p:sp>
      <p:sp>
        <p:nvSpPr>
          <p:cNvPr id="107" name="Google Shape;107;p8"/>
          <p:cNvSpPr txBox="1"/>
          <p:nvPr/>
        </p:nvSpPr>
        <p:spPr>
          <a:xfrm>
            <a:off x="5816600" y="1397756"/>
            <a:ext cx="5626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 de esquinas y puntos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usan para identificar </a:t>
            </a: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únicas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dentro de una imagen.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esquinas de edificios, puntos de interés en objetos o logotipos.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Algoritmos comunes: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Harris Corner Detector →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cv2.cornerHarris()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Shi-Tomasi →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cv2.goodFeaturesToTrack()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FAST, ORB y SIFT (libres); SURF está patentado.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Usados en panoramas, realidad aumentada y reconstrucción 3D. En el taller: ORB (anexo para casa).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tección de esquinas con OpenCV" id="108" name="Google Shape;1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51" y="1280786"/>
            <a:ext cx="2009776" cy="2216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ris Corner Detection — OpenCV-Python Tutorials beta documentation" id="109" name="Google Shape;1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7926" y="3087272"/>
            <a:ext cx="2695573" cy="2659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7493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OpenCV + Yolo</a:t>
            </a:r>
            <a:endParaRPr b="1" sz="3600"/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074" y="1550988"/>
            <a:ext cx="2790825" cy="344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/>
          <p:nvPr/>
        </p:nvSpPr>
        <p:spPr>
          <a:xfrm>
            <a:off x="4800600" y="1690688"/>
            <a:ext cx="1346200" cy="1325563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o&#10;&#10;El contenido generado por IA puede ser incorrecto." id="117" name="Google Shape;1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3739" y="1439352"/>
            <a:ext cx="3172734" cy="1684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ltralytics | Revolutionizing the World of Vision AI" id="118" name="Google Shape;1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0200" y="4003707"/>
            <a:ext cx="48768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/>
          <p:nvPr/>
        </p:nvSpPr>
        <p:spPr>
          <a:xfrm>
            <a:off x="4800600" y="4441857"/>
            <a:ext cx="1346200" cy="7366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800600" y="3271075"/>
            <a:ext cx="1320800" cy="732632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901700" y="209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Diferencias entre procesamiento clásico (OpenCV) y profundo (YOLO)</a:t>
            </a:r>
            <a:endParaRPr b="1" sz="3600"/>
          </a:p>
        </p:txBody>
      </p:sp>
      <p:graphicFrame>
        <p:nvGraphicFramePr>
          <p:cNvPr id="126" name="Google Shape;126;p10"/>
          <p:cNvGraphicFramePr/>
          <p:nvPr/>
        </p:nvGraphicFramePr>
        <p:xfrm>
          <a:off x="901700" y="1306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{3BAA201A-FE96-4BBF-A1CF-FD119142F86C}</a:tableStyleId>
              </a:tblPr>
              <a:tblGrid>
                <a:gridCol w="1638300"/>
                <a:gridCol w="4191000"/>
                <a:gridCol w="4838700"/>
              </a:tblGrid>
              <a:tr h="28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MX" sz="1600" u="none" cap="none" strike="noStrike"/>
                        <a:t>Aspecto</a:t>
                      </a:r>
                      <a:endParaRPr sz="16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MX" sz="1600" u="none" cap="none" strike="noStrike"/>
                        <a:t>Procesamiento clásico (OpenCV)</a:t>
                      </a:r>
                      <a:endParaRPr sz="16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MX" sz="1600" u="none" cap="none" strike="noStrike"/>
                        <a:t>Procesamiento profundo (YOLO)</a:t>
                      </a:r>
                      <a:endParaRPr sz="1600" u="none" cap="none" strike="noStrike"/>
                    </a:p>
                  </a:txBody>
                  <a:tcPr marT="27200" marB="27200" marR="54400" marL="54400" anchor="ctr"/>
                </a:tc>
              </a:tr>
              <a:tr h="5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Enfoque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Basado en reglas, filtros y operaciones matemáticas (procesamiento de píxeles).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Basado en redes neuronales convolucionales (CNN) que aprenden patrones automáticamente.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</a:tr>
              <a:tr h="5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Inteligencia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No aprende: requiere definir manualmente los pasos de detección (bordes, color, forma, etc.).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Aprende automáticamente a detectar y clasificar objetos mediante entrenamiento con datos.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</a:tr>
              <a:tr h="74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Tareas típicas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Detección de bordes, seguimiento por color, segmentación básica, transformaciones geométricas.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Detección, segmentación, pose, clasificación y seguimiento de objetos.</a:t>
                      </a:r>
                      <a:endParaRPr/>
                    </a:p>
                  </a:txBody>
                  <a:tcPr marT="27200" marB="27200" marR="54400" marL="54400" anchor="ctr"/>
                </a:tc>
              </a:tr>
              <a:tr h="74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Configuración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Se ajustan parámetros manualmente (umbrales, filtros, kernels).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Se entrena un modelo previamente (YOLO, SSD, Faster R-CNN, etc.) y luego se usa para inferencia.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</a:tr>
              <a:tr h="5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Velocidad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Muy rápido, ideal para tareas simples en tiempo real.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Más pesado que un filtro, pero en tiempo real incluso en CPU (YOLO26n).</a:t>
                      </a:r>
                      <a:endParaRPr/>
                    </a:p>
                  </a:txBody>
                  <a:tcPr marT="27200" marB="27200" marR="54400" marL="54400" anchor="ctr"/>
                </a:tc>
              </a:tr>
              <a:tr h="5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Precisión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Limitada cuando hay variaciones de luz, forma o fondo.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Alta precisión incluso en entornos complejos y cambiantes.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</a:tr>
              <a:tr h="5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Uso típico</a:t>
                      </a:r>
                      <a:endParaRPr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Procesamiento de imágenes estáticas o tareas específicas.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u="none" cap="none" strike="noStrike"/>
                        <a:t>Análisis avanzado en video, visión artificial, robótica, seguridad, tráfico, etc.</a:t>
                      </a:r>
                      <a:endParaRPr sz="1400" u="none" cap="none" strike="noStrike"/>
                    </a:p>
                  </a:txBody>
                  <a:tcPr marT="27200" marB="27200" marR="54400" marL="54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Integración OpenCV + YOLO</a:t>
            </a:r>
            <a:endParaRPr b="1" sz="3600"/>
          </a:p>
        </p:txBody>
      </p:sp>
      <p:pic>
        <p:nvPicPr>
          <p:cNvPr descr="Object Detection with YOLO and OpenCV: A Practical Guide | by AI_Pioneer |  Medium"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44" y="1266080"/>
            <a:ext cx="4044956" cy="2480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conocimiento de objetos y personas con inteligencia artificial - YouTube" id="133" name="Google Shape;1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8844" y="3632310"/>
            <a:ext cx="4044956" cy="22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 txBox="1"/>
          <p:nvPr/>
        </p:nvSpPr>
        <p:spPr>
          <a:xfrm>
            <a:off x="596900" y="1266080"/>
            <a:ext cx="50165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práctico: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Conteo de vehículos (solo OpenCV).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Sustracción de fondo + filtros (suavizado, umbral, morfología).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por centroides y línea de conteo.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filtros: 40 IDs falsos; con filtros: 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Personas en zonas de seguridad (OpenCV + YOLO).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OpenCV: define el polígono o ROI de seguridad.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YOLO: detecta personas y evalúa si están dentro o fuera de esa zona.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OpenCV: pinta zonas peligrosas en rojo y muestra alertas visuales.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MX" sz="3600"/>
              <a:t>Integración OpenCV + YOLO</a:t>
            </a:r>
            <a:endParaRPr b="1" sz="3600"/>
          </a:p>
        </p:txBody>
      </p:sp>
      <p:sp>
        <p:nvSpPr>
          <p:cNvPr id="140" name="Google Shape;140;p12"/>
          <p:cNvSpPr txBox="1"/>
          <p:nvPr/>
        </p:nvSpPr>
        <p:spPr>
          <a:xfrm>
            <a:off x="838200" y="1739463"/>
            <a:ext cx="48895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 en tiempo real, incluso en CPU con YOLO26n.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 </a:t>
            </a: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precisión (YOLO)</a:t>
            </a: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 y control (OpenCV)</a:t>
            </a: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ideal para proyectos de </a:t>
            </a: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seguridad, tráfico, robótica, monitoreo industrial</a:t>
            </a: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inteligente</a:t>
            </a:r>
            <a:r>
              <a:rPr b="0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2742491" y="1241424"/>
            <a:ext cx="1536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YOLO Object Detection with OpenCV"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813" y="1241424"/>
            <a:ext cx="3677365" cy="241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TECCION DE OBJETOS PARA TIENDAS INTELIGENTES | Proceso de pago con IA |  Yolo V8 Python OpenCV - YouTube"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6495" y="3472448"/>
            <a:ext cx="3970693" cy="223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2"/>
          <p:cNvSpPr txBox="1"/>
          <p:nvPr/>
        </p:nvSpPr>
        <p:spPr>
          <a:xfrm>
            <a:off x="462841" y="4526280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+ YOLO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Captura, detección y análisis inteligentes.</a:t>
            </a:r>
            <a:b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404812" y="5120640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 se encarga del cómo ver y YOLO del qué ver”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Herramientas para el taller</a:t>
            </a:r>
            <a:endParaRPr b="1" sz="3600"/>
          </a:p>
        </p:txBody>
      </p:sp>
      <p:pic>
        <p:nvPicPr>
          <p:cNvPr descr="Ciência de Dados com Google Colab e Python - IPETEC - Instituto de Pesquisa  Educação e Tecnologia" id="151" name="Google Shape;1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13" y="1555710"/>
            <a:ext cx="4658627" cy="196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1100" y="1369886"/>
            <a:ext cx="1904139" cy="2347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53" name="Google Shape;15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6039" y="4320521"/>
            <a:ext cx="2612461" cy="1387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ltralytics | Revolutionizing the World of Vision AI" id="154" name="Google Shape;15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4611814"/>
            <a:ext cx="48768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torch logo - Iconos Social Media y Logos" id="155" name="Google Shape;15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19189" y="1892728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s-MX"/>
              <a:t>Gracias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2022-04-18T16:36:16Z</dcterms:created>
  <dc:creator>Microsoft Office User</dc:creator>
</cp:coreProperties>
</file>